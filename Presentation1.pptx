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906589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578405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1978347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FF77D09-A24E-4243-833F-59D01B9C1B7D}" type="datetimeFigureOut">
              <a:rPr lang="en-US" smtClean="0"/>
              <a:t>11/22/2023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2834191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FF77D09-A24E-4243-833F-59D01B9C1B7D}" type="datetimeFigureOut">
              <a:rPr lang="en-US" smtClean="0"/>
              <a:t>11/22/2023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64448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FF77D09-A24E-4243-833F-59D01B9C1B7D}" type="datetimeFigureOut">
              <a:rPr lang="en-US" smtClean="0"/>
              <a:t>11/22/2023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2593892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F77D09-A24E-4243-833F-59D01B9C1B7D}" type="datetimeFigureOut">
              <a:rPr lang="en-US" smtClean="0"/>
              <a:t>11/22/2023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1021648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FF77D09-A24E-4243-833F-59D01B9C1B7D}" type="datetimeFigureOut">
              <a:rPr lang="en-US" smtClean="0"/>
              <a:t>11/22/2023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4220708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FF77D09-A24E-4243-833F-59D01B9C1B7D}" type="datetimeFigureOut">
              <a:rPr lang="en-US" smtClean="0"/>
              <a:t>11/22/2023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3531753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4268625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72294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2930010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247785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1197887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634991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FF77D09-A24E-4243-833F-59D01B9C1B7D}"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E486B-090F-4A4F-A349-7D11E6C4AB66}" type="slidenum">
              <a:rPr lang="en-US" smtClean="0"/>
              <a:t>‹#›</a:t>
            </a:fld>
            <a:endParaRPr lang="en-US"/>
          </a:p>
        </p:txBody>
      </p:sp>
    </p:spTree>
    <p:extLst>
      <p:ext uri="{BB962C8B-B14F-4D97-AF65-F5344CB8AC3E}">
        <p14:creationId xmlns:p14="http://schemas.microsoft.com/office/powerpoint/2010/main" val="3499015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FF77D09-A24E-4243-833F-59D01B9C1B7D}" type="datetimeFigureOut">
              <a:rPr lang="en-US" smtClean="0"/>
              <a:t>11/22/2023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5BE486B-090F-4A4F-A349-7D11E6C4AB66}" type="slidenum">
              <a:rPr lang="en-US" smtClean="0"/>
              <a:t>‹#›</a:t>
            </a:fld>
            <a:endParaRPr lang="en-US"/>
          </a:p>
        </p:txBody>
      </p:sp>
    </p:spTree>
    <p:extLst>
      <p:ext uri="{BB962C8B-B14F-4D97-AF65-F5344CB8AC3E}">
        <p14:creationId xmlns:p14="http://schemas.microsoft.com/office/powerpoint/2010/main" val="322253713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smtClean="0"/>
              <a:t/>
            </a:r>
            <a:br>
              <a:rPr lang="en-CA" dirty="0" smtClean="0"/>
            </a:br>
            <a:r>
              <a:rPr lang="en-CA" sz="6600" dirty="0" smtClean="0"/>
              <a:t>CSS FUNDAMENTALS</a:t>
            </a:r>
            <a:endParaRPr lang="en-US" sz="6600" dirty="0"/>
          </a:p>
        </p:txBody>
      </p:sp>
      <p:sp>
        <p:nvSpPr>
          <p:cNvPr id="3" name="Subtitle 2"/>
          <p:cNvSpPr>
            <a:spLocks noGrp="1"/>
          </p:cNvSpPr>
          <p:nvPr>
            <p:ph type="subTitle" idx="1"/>
          </p:nvPr>
        </p:nvSpPr>
        <p:spPr/>
        <p:txBody>
          <a:bodyPr>
            <a:normAutofit/>
          </a:bodyPr>
          <a:lstStyle/>
          <a:p>
            <a:r>
              <a:rPr lang="en-CA" sz="2400" b="1" dirty="0" smtClean="0">
                <a:solidFill>
                  <a:schemeClr val="tx1">
                    <a:lumMod val="95000"/>
                  </a:schemeClr>
                </a:solidFill>
              </a:rPr>
              <a:t>GROUP 2</a:t>
            </a:r>
            <a:endParaRPr lang="en-US" sz="2400" b="1" dirty="0">
              <a:solidFill>
                <a:schemeClr val="tx1">
                  <a:lumMod val="95000"/>
                </a:schemeClr>
              </a:solidFill>
            </a:endParaRPr>
          </a:p>
        </p:txBody>
      </p:sp>
    </p:spTree>
    <p:extLst>
      <p:ext uri="{BB962C8B-B14F-4D97-AF65-F5344CB8AC3E}">
        <p14:creationId xmlns:p14="http://schemas.microsoft.com/office/powerpoint/2010/main" val="2795888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INTRODUCTION</a:t>
            </a:r>
            <a:endParaRPr lang="en-US" dirty="0"/>
          </a:p>
        </p:txBody>
      </p:sp>
      <p:sp>
        <p:nvSpPr>
          <p:cNvPr id="3" name="Content Placeholder 2"/>
          <p:cNvSpPr>
            <a:spLocks noGrp="1"/>
          </p:cNvSpPr>
          <p:nvPr>
            <p:ph idx="1"/>
          </p:nvPr>
        </p:nvSpPr>
        <p:spPr>
          <a:xfrm>
            <a:off x="677333" y="1672047"/>
            <a:ext cx="10190963" cy="4872444"/>
          </a:xfrm>
        </p:spPr>
        <p:txBody>
          <a:bodyPr>
            <a:normAutofit fontScale="92500" lnSpcReduction="20000"/>
          </a:bodyPr>
          <a:lstStyle/>
          <a:p>
            <a:r>
              <a:rPr lang="en-US" sz="2400" dirty="0"/>
              <a:t>Cascading Style Sheets (CSS) is a stylesheet language used to control the presentation and layout of HTML </a:t>
            </a:r>
            <a:r>
              <a:rPr lang="en-US" sz="2400" dirty="0" smtClean="0"/>
              <a:t>documents for web design.</a:t>
            </a:r>
          </a:p>
          <a:p>
            <a:r>
              <a:rPr lang="en-US" sz="2400" dirty="0"/>
              <a:t>CSS (Cascading Style Sheets) was first proposed by </a:t>
            </a:r>
            <a:r>
              <a:rPr lang="en-US" sz="2400" dirty="0" err="1"/>
              <a:t>Håkon</a:t>
            </a:r>
            <a:r>
              <a:rPr lang="en-US" sz="2400" dirty="0"/>
              <a:t> </a:t>
            </a:r>
            <a:r>
              <a:rPr lang="en-US" sz="2400" dirty="0" err="1"/>
              <a:t>Wium</a:t>
            </a:r>
            <a:r>
              <a:rPr lang="en-US" sz="2400" dirty="0"/>
              <a:t> Lie on October 10, 1994</a:t>
            </a:r>
            <a:r>
              <a:rPr lang="en-US" sz="2400" dirty="0" smtClean="0"/>
              <a:t>.</a:t>
            </a:r>
          </a:p>
          <a:p>
            <a:r>
              <a:rPr lang="en-US" sz="2400" dirty="0" smtClean="0"/>
              <a:t> </a:t>
            </a:r>
            <a:r>
              <a:rPr lang="en-US" sz="2400" dirty="0"/>
              <a:t>The development of CSS aimed to separate the presentation style of documents from their content, providing a more flexible and efficient way to design web pages</a:t>
            </a:r>
            <a:r>
              <a:rPr lang="en-US" sz="2400" dirty="0" smtClean="0"/>
              <a:t>. </a:t>
            </a:r>
          </a:p>
          <a:p>
            <a:r>
              <a:rPr lang="en-US" sz="2400" dirty="0" smtClean="0"/>
              <a:t>The </a:t>
            </a:r>
            <a:r>
              <a:rPr lang="en-US" sz="2400" dirty="0"/>
              <a:t>first official CSS specification, CSS1, was released in December 1996 by the World Wide Web Consortium (W3C). It laid the foundation for the subsequent versions and the widespread adoption of CSS in web development.	</a:t>
            </a:r>
            <a:endParaRPr lang="en-US" sz="2400" dirty="0" smtClean="0"/>
          </a:p>
          <a:p>
            <a:r>
              <a:rPr lang="en-US" sz="2400" dirty="0"/>
              <a:t>	CSS allows web developers to define styles, such as fonts, </a:t>
            </a:r>
            <a:r>
              <a:rPr lang="en-US" sz="2400" dirty="0" smtClean="0"/>
              <a:t>colors</a:t>
            </a:r>
            <a:r>
              <a:rPr lang="en-US" sz="2400" dirty="0"/>
              <a:t>, spacing, and positioning, for HTML </a:t>
            </a:r>
            <a:r>
              <a:rPr lang="en-US" sz="2400" dirty="0" smtClean="0"/>
              <a:t>elements.</a:t>
            </a:r>
          </a:p>
          <a:p>
            <a:r>
              <a:rPr lang="en-US" sz="2400" dirty="0"/>
              <a:t>CSS is integrated into HTML using selectors, properties, and values, creating a powerful combination for web design.</a:t>
            </a:r>
          </a:p>
        </p:txBody>
      </p:sp>
    </p:spTree>
    <p:extLst>
      <p:ext uri="{BB962C8B-B14F-4D97-AF65-F5344CB8AC3E}">
        <p14:creationId xmlns:p14="http://schemas.microsoft.com/office/powerpoint/2010/main" val="2644700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09600"/>
            <a:ext cx="8596313" cy="1320800"/>
          </a:xfrm>
        </p:spPr>
        <p:txBody>
          <a:bodyPr/>
          <a:lstStyle/>
          <a:p>
            <a:r>
              <a:rPr lang="en-CA" dirty="0" smtClean="0"/>
              <a:t>Role of CSS</a:t>
            </a:r>
            <a:endParaRPr lang="en-US" dirty="0"/>
          </a:p>
        </p:txBody>
      </p:sp>
      <p:sp>
        <p:nvSpPr>
          <p:cNvPr id="4" name="Rectangle 3"/>
          <p:cNvSpPr/>
          <p:nvPr/>
        </p:nvSpPr>
        <p:spPr>
          <a:xfrm>
            <a:off x="339635" y="1699907"/>
            <a:ext cx="8961120" cy="3970318"/>
          </a:xfrm>
          <a:prstGeom prst="rect">
            <a:avLst/>
          </a:prstGeom>
        </p:spPr>
        <p:txBody>
          <a:bodyPr wrap="square">
            <a:spAutoFit/>
          </a:bodyPr>
          <a:lstStyle/>
          <a:p>
            <a:r>
              <a:rPr lang="en-US" b="1" dirty="0"/>
              <a:t>1.	Enhancing Visual Appeal:</a:t>
            </a:r>
            <a:r>
              <a:rPr lang="en-US" dirty="0"/>
              <a:t>	</a:t>
            </a:r>
          </a:p>
          <a:p>
            <a:r>
              <a:rPr lang="en-US" dirty="0"/>
              <a:t>	 CSS plays a pivotal role in enhancing the visual appeal of web pages by  styling HTML elements.	</a:t>
            </a:r>
            <a:endParaRPr lang="en-US" dirty="0" smtClean="0"/>
          </a:p>
          <a:p>
            <a:endParaRPr lang="en-US" dirty="0"/>
          </a:p>
          <a:p>
            <a:r>
              <a:rPr lang="en-US" dirty="0"/>
              <a:t>	2</a:t>
            </a:r>
            <a:r>
              <a:rPr lang="en-US" b="1" dirty="0"/>
              <a:t>.	Layout Control:	</a:t>
            </a:r>
          </a:p>
          <a:p>
            <a:r>
              <a:rPr lang="en-US" dirty="0"/>
              <a:t> CSS provides precise control over the layout and positioning of HTML elements.	</a:t>
            </a:r>
            <a:endParaRPr lang="en-US" dirty="0" smtClean="0"/>
          </a:p>
          <a:p>
            <a:r>
              <a:rPr lang="en-US" dirty="0"/>
              <a:t>	</a:t>
            </a:r>
          </a:p>
          <a:p>
            <a:r>
              <a:rPr lang="en-US" b="1" dirty="0"/>
              <a:t>3.	Responsive Web Design:	</a:t>
            </a:r>
          </a:p>
          <a:p>
            <a:r>
              <a:rPr lang="en-US" dirty="0"/>
              <a:t> One of CSS’s crucial roles is in crafting responsive designs that adapt to different screen sizes and devices</a:t>
            </a:r>
            <a:r>
              <a:rPr lang="en-US" dirty="0" smtClean="0"/>
              <a:t>.</a:t>
            </a:r>
          </a:p>
          <a:p>
            <a:endParaRPr lang="en-US" dirty="0"/>
          </a:p>
          <a:p>
            <a:r>
              <a:rPr lang="en-US" dirty="0"/>
              <a:t> </a:t>
            </a:r>
            <a:r>
              <a:rPr lang="en-US" b="1" dirty="0"/>
              <a:t>4.	Consistency Across Browsers:</a:t>
            </a:r>
            <a:r>
              <a:rPr lang="en-US" dirty="0"/>
              <a:t>	</a:t>
            </a:r>
          </a:p>
          <a:p>
            <a:r>
              <a:rPr lang="en-US" dirty="0"/>
              <a:t>	CSS ensures a consistent look and feel across different web browsers.</a:t>
            </a:r>
          </a:p>
          <a:p>
            <a:r>
              <a:rPr lang="en-US" dirty="0"/>
              <a:t>		create dynamic and interactive web elements.</a:t>
            </a:r>
            <a:endParaRPr lang="en-US" dirty="0"/>
          </a:p>
        </p:txBody>
      </p:sp>
    </p:spTree>
    <p:extLst>
      <p:ext uri="{BB962C8B-B14F-4D97-AF65-F5344CB8AC3E}">
        <p14:creationId xmlns:p14="http://schemas.microsoft.com/office/powerpoint/2010/main" val="2391712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39454" y="1324273"/>
            <a:ext cx="8098971" cy="4893647"/>
          </a:xfrm>
          <a:prstGeom prst="rect">
            <a:avLst/>
          </a:prstGeom>
        </p:spPr>
        <p:txBody>
          <a:bodyPr wrap="square">
            <a:spAutoFit/>
          </a:bodyPr>
          <a:lstStyle/>
          <a:p>
            <a:r>
              <a:rPr lang="en-US" sz="2400" b="1" dirty="0" smtClean="0"/>
              <a:t>5.	Separation </a:t>
            </a:r>
            <a:r>
              <a:rPr lang="en-US" sz="2400" b="1" dirty="0"/>
              <a:t>of Concerns:	</a:t>
            </a:r>
            <a:endParaRPr lang="en-US" sz="2400" b="1" dirty="0" smtClean="0"/>
          </a:p>
          <a:p>
            <a:r>
              <a:rPr lang="en-US" sz="2400" dirty="0" smtClean="0"/>
              <a:t>•</a:t>
            </a:r>
            <a:r>
              <a:rPr lang="en-US" sz="2400" dirty="0"/>
              <a:t>	CSS enables the separation of styling from HTML content, following the principle of separation of concerns.	</a:t>
            </a:r>
            <a:endParaRPr lang="en-US" sz="2400" dirty="0" smtClean="0"/>
          </a:p>
          <a:p>
            <a:r>
              <a:rPr lang="en-US" sz="2400" b="1" dirty="0" smtClean="0"/>
              <a:t>6</a:t>
            </a:r>
            <a:r>
              <a:rPr lang="en-US" sz="2400" b="1" dirty="0"/>
              <a:t>.	Accessibility:	</a:t>
            </a:r>
            <a:endParaRPr lang="en-US" sz="2400" b="1" dirty="0" smtClean="0"/>
          </a:p>
          <a:p>
            <a:r>
              <a:rPr lang="en-US" sz="2400" dirty="0" smtClean="0"/>
              <a:t>•</a:t>
            </a:r>
            <a:r>
              <a:rPr lang="en-US" sz="2400" dirty="0"/>
              <a:t>	CSS contributes to creating accessible web designs by allowing developers to define readable fonts, appropriate color contrasts, and other accessibility-friendly features.	</a:t>
            </a:r>
            <a:endParaRPr lang="en-US" sz="2400" dirty="0" smtClean="0"/>
          </a:p>
          <a:p>
            <a:pPr marL="342900" indent="-342900">
              <a:buAutoNum type="arabicPeriod" startAt="7"/>
            </a:pPr>
            <a:r>
              <a:rPr lang="en-US" sz="2400" b="1" dirty="0" smtClean="0"/>
              <a:t>Animation </a:t>
            </a:r>
            <a:r>
              <a:rPr lang="en-US" sz="2400" b="1" dirty="0"/>
              <a:t>and Interaction:	</a:t>
            </a:r>
          </a:p>
          <a:p>
            <a:r>
              <a:rPr lang="en-US" sz="2400" dirty="0" smtClean="0"/>
              <a:t> •</a:t>
            </a:r>
            <a:r>
              <a:rPr lang="en-US" sz="2400" dirty="0"/>
              <a:t>	CSS introduces animation and transition properties, enabling developers to create dynamic and interactive web elements</a:t>
            </a:r>
            <a:r>
              <a:rPr lang="en-US" dirty="0"/>
              <a:t>.</a:t>
            </a:r>
            <a:endParaRPr lang="en-US" dirty="0"/>
          </a:p>
        </p:txBody>
      </p:sp>
      <p:sp>
        <p:nvSpPr>
          <p:cNvPr id="5" name="Title 4"/>
          <p:cNvSpPr>
            <a:spLocks noGrp="1"/>
          </p:cNvSpPr>
          <p:nvPr>
            <p:ph type="title"/>
          </p:nvPr>
        </p:nvSpPr>
        <p:spPr>
          <a:xfrm>
            <a:off x="533642" y="243840"/>
            <a:ext cx="8596668" cy="748937"/>
          </a:xfrm>
        </p:spPr>
        <p:txBody>
          <a:bodyPr/>
          <a:lstStyle/>
          <a:p>
            <a:r>
              <a:rPr lang="en-CA" dirty="0" smtClean="0"/>
              <a:t>Role….</a:t>
            </a:r>
            <a:endParaRPr lang="en-US" dirty="0"/>
          </a:p>
        </p:txBody>
      </p:sp>
    </p:spTree>
    <p:extLst>
      <p:ext uri="{BB962C8B-B14F-4D97-AF65-F5344CB8AC3E}">
        <p14:creationId xmlns:p14="http://schemas.microsoft.com/office/powerpoint/2010/main" val="1361038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92629"/>
          </a:xfrm>
        </p:spPr>
        <p:txBody>
          <a:bodyPr/>
          <a:lstStyle/>
          <a:p>
            <a:r>
              <a:rPr lang="en-CA" dirty="0" smtClean="0"/>
              <a:t>CSS Syntax</a:t>
            </a:r>
            <a:endParaRPr lang="en-US" dirty="0"/>
          </a:p>
        </p:txBody>
      </p:sp>
      <p:sp>
        <p:nvSpPr>
          <p:cNvPr id="4" name="Rectangle 3"/>
          <p:cNvSpPr/>
          <p:nvPr/>
        </p:nvSpPr>
        <p:spPr>
          <a:xfrm>
            <a:off x="509451" y="1724297"/>
            <a:ext cx="8634549" cy="4154984"/>
          </a:xfrm>
          <a:prstGeom prst="rect">
            <a:avLst/>
          </a:prstGeom>
        </p:spPr>
        <p:txBody>
          <a:bodyPr wrap="square">
            <a:spAutoFit/>
          </a:bodyPr>
          <a:lstStyle/>
          <a:p>
            <a:r>
              <a:rPr lang="en-US" sz="2400" dirty="0"/>
              <a:t>CSS rules consist of a selector and a declaration block.	</a:t>
            </a:r>
            <a:endParaRPr lang="en-US" sz="2400" dirty="0" smtClean="0"/>
          </a:p>
          <a:p>
            <a:endParaRPr lang="en-US" sz="2400" dirty="0" smtClean="0"/>
          </a:p>
          <a:p>
            <a:r>
              <a:rPr lang="en-US" sz="2400" dirty="0" smtClean="0"/>
              <a:t>The </a:t>
            </a:r>
            <a:r>
              <a:rPr lang="en-US" sz="2400" dirty="0"/>
              <a:t>selector identifies the HTML element to be styled, and </a:t>
            </a:r>
            <a:endParaRPr lang="en-US" sz="2400" dirty="0" smtClean="0"/>
          </a:p>
          <a:p>
            <a:r>
              <a:rPr lang="en-US" sz="2400" dirty="0" smtClean="0"/>
              <a:t>the </a:t>
            </a:r>
            <a:r>
              <a:rPr lang="en-US" sz="2400" dirty="0"/>
              <a:t>declaration block contains one or more property-value pairs</a:t>
            </a:r>
            <a:r>
              <a:rPr lang="en-US" sz="2400" dirty="0" smtClean="0"/>
              <a:t>.</a:t>
            </a:r>
          </a:p>
          <a:p>
            <a:r>
              <a:rPr lang="en-US" sz="2400" dirty="0"/>
              <a:t>The declaration block contains one or more declarations separated by </a:t>
            </a:r>
            <a:r>
              <a:rPr lang="en-US" sz="2400" dirty="0" err="1" smtClean="0"/>
              <a:t>semicolons.Each</a:t>
            </a:r>
            <a:r>
              <a:rPr lang="en-US" sz="2400" dirty="0" smtClean="0"/>
              <a:t> </a:t>
            </a:r>
            <a:r>
              <a:rPr lang="en-US" sz="2400" dirty="0"/>
              <a:t>declaration includes a CSS property name and a value, separated by a colon</a:t>
            </a:r>
            <a:r>
              <a:rPr lang="en-US" sz="2400" dirty="0" smtClean="0"/>
              <a:t>.</a:t>
            </a:r>
          </a:p>
          <a:p>
            <a:endParaRPr lang="en-US" sz="2400" dirty="0" smtClean="0"/>
          </a:p>
          <a:p>
            <a:r>
              <a:rPr lang="en-US" sz="2400" dirty="0" smtClean="0"/>
              <a:t>Multiple </a:t>
            </a:r>
            <a:r>
              <a:rPr lang="en-US" sz="2400" dirty="0"/>
              <a:t>CSS declarations are separated with semicolons, and declaration blocks are surrounded by curly braces.</a:t>
            </a:r>
          </a:p>
        </p:txBody>
      </p:sp>
    </p:spTree>
    <p:extLst>
      <p:ext uri="{BB962C8B-B14F-4D97-AF65-F5344CB8AC3E}">
        <p14:creationId xmlns:p14="http://schemas.microsoft.com/office/powerpoint/2010/main" val="1472437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Selector</a:t>
            </a:r>
            <a:endParaRPr lang="en-US" dirty="0"/>
          </a:p>
        </p:txBody>
      </p:sp>
      <p:sp>
        <p:nvSpPr>
          <p:cNvPr id="3" name="Rectangle 2"/>
          <p:cNvSpPr/>
          <p:nvPr/>
        </p:nvSpPr>
        <p:spPr>
          <a:xfrm>
            <a:off x="597022" y="2199140"/>
            <a:ext cx="8466666" cy="4154984"/>
          </a:xfrm>
          <a:prstGeom prst="rect">
            <a:avLst/>
          </a:prstGeom>
        </p:spPr>
        <p:txBody>
          <a:bodyPr wrap="square">
            <a:spAutoFit/>
          </a:bodyPr>
          <a:lstStyle/>
          <a:p>
            <a:pPr>
              <a:lnSpc>
                <a:spcPct val="150000"/>
              </a:lnSpc>
            </a:pPr>
            <a:r>
              <a:rPr lang="en-US" sz="2200" b="1" dirty="0"/>
              <a:t>Element Selector: </a:t>
            </a:r>
            <a:r>
              <a:rPr lang="en-US" sz="2200" dirty="0"/>
              <a:t>Targets HTML elements by name (e.g., p</a:t>
            </a:r>
            <a:r>
              <a:rPr lang="en-US" sz="2200" dirty="0" smtClean="0"/>
              <a:t>).</a:t>
            </a:r>
          </a:p>
          <a:p>
            <a:pPr>
              <a:lnSpc>
                <a:spcPct val="150000"/>
              </a:lnSpc>
            </a:pPr>
            <a:r>
              <a:rPr lang="en-CA" sz="2200" b="1" dirty="0" smtClean="0"/>
              <a:t>Universal selector: </a:t>
            </a:r>
            <a:r>
              <a:rPr lang="en-CA" sz="2200" dirty="0" smtClean="0"/>
              <a:t>select all elements on the page.(</a:t>
            </a:r>
            <a:r>
              <a:rPr lang="en-CA" sz="2200" dirty="0" err="1" smtClean="0"/>
              <a:t>e.g</a:t>
            </a:r>
            <a:r>
              <a:rPr lang="en-CA" sz="2200" dirty="0" smtClean="0"/>
              <a:t>: *).</a:t>
            </a:r>
            <a:endParaRPr lang="en-US" sz="2200" dirty="0" smtClean="0"/>
          </a:p>
          <a:p>
            <a:pPr>
              <a:lnSpc>
                <a:spcPct val="150000"/>
              </a:lnSpc>
            </a:pPr>
            <a:r>
              <a:rPr lang="en-US" sz="2200" b="1" dirty="0" smtClean="0"/>
              <a:t>Class </a:t>
            </a:r>
            <a:r>
              <a:rPr lang="en-US" sz="2200" b="1" dirty="0"/>
              <a:t>Selector: </a:t>
            </a:r>
            <a:r>
              <a:rPr lang="en-US" sz="2200" dirty="0"/>
              <a:t>Targets elements with a specific class (e.g., .my-class).	</a:t>
            </a:r>
            <a:endParaRPr lang="en-US" sz="2200" dirty="0" smtClean="0"/>
          </a:p>
          <a:p>
            <a:pPr>
              <a:lnSpc>
                <a:spcPct val="150000"/>
              </a:lnSpc>
            </a:pPr>
            <a:r>
              <a:rPr lang="en-US" sz="2200" b="1" dirty="0" smtClean="0"/>
              <a:t>ID Selector: </a:t>
            </a:r>
            <a:r>
              <a:rPr lang="en-US" sz="2200" dirty="0" smtClean="0"/>
              <a:t>Targets a specific element with a unique ID (e.g., #my-id).</a:t>
            </a:r>
          </a:p>
          <a:p>
            <a:pPr>
              <a:lnSpc>
                <a:spcPct val="150000"/>
              </a:lnSpc>
            </a:pPr>
            <a:r>
              <a:rPr lang="en-US" sz="2200" b="1" dirty="0" smtClean="0"/>
              <a:t>Descendant Selector: </a:t>
            </a:r>
            <a:r>
              <a:rPr lang="en-US" sz="2200" dirty="0" smtClean="0"/>
              <a:t>Targets an element that is a descendant of another element (e.g., div p).</a:t>
            </a:r>
            <a:endParaRPr lang="en-US" sz="2200" dirty="0"/>
          </a:p>
        </p:txBody>
      </p:sp>
    </p:spTree>
    <p:extLst>
      <p:ext uri="{BB962C8B-B14F-4D97-AF65-F5344CB8AC3E}">
        <p14:creationId xmlns:p14="http://schemas.microsoft.com/office/powerpoint/2010/main" val="2907869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8126"/>
          </a:xfrm>
        </p:spPr>
        <p:txBody>
          <a:bodyPr/>
          <a:lstStyle/>
          <a:p>
            <a:r>
              <a:rPr lang="en-CA" dirty="0" err="1" smtClean="0"/>
              <a:t>Css</a:t>
            </a:r>
            <a:r>
              <a:rPr lang="en-CA" dirty="0" smtClean="0"/>
              <a:t> Box model</a:t>
            </a:r>
            <a:endParaRPr lang="en-US" dirty="0"/>
          </a:p>
        </p:txBody>
      </p:sp>
      <p:sp>
        <p:nvSpPr>
          <p:cNvPr id="3" name="Rectangle 2"/>
          <p:cNvSpPr/>
          <p:nvPr/>
        </p:nvSpPr>
        <p:spPr>
          <a:xfrm>
            <a:off x="363826" y="1593669"/>
            <a:ext cx="9537820" cy="4862998"/>
          </a:xfrm>
          <a:prstGeom prst="rect">
            <a:avLst/>
          </a:prstGeom>
        </p:spPr>
        <p:txBody>
          <a:bodyPr wrap="square">
            <a:spAutoFit/>
          </a:bodyPr>
          <a:lstStyle/>
          <a:p>
            <a:pPr>
              <a:lnSpc>
                <a:spcPct val="150000"/>
              </a:lnSpc>
            </a:pPr>
            <a:r>
              <a:rPr lang="en-US" sz="1900" dirty="0" smtClean="0"/>
              <a:t>The </a:t>
            </a:r>
            <a:r>
              <a:rPr lang="en-US" sz="1900" dirty="0"/>
              <a:t>CSS Box Model is a fundamental concept that defines the structure of an HTML </a:t>
            </a:r>
            <a:r>
              <a:rPr lang="en-US" sz="1900" dirty="0" smtClean="0"/>
              <a:t>element. It </a:t>
            </a:r>
            <a:r>
              <a:rPr lang="en-US" sz="1900" dirty="0"/>
              <a:t>consists of four main components</a:t>
            </a:r>
            <a:r>
              <a:rPr lang="en-US" sz="1900" dirty="0" smtClean="0"/>
              <a:t>:  </a:t>
            </a:r>
            <a:r>
              <a:rPr lang="en-US" sz="1900" dirty="0"/>
              <a:t>content, padding, border, and margin</a:t>
            </a:r>
            <a:r>
              <a:rPr lang="en-US" sz="1900" dirty="0" smtClean="0"/>
              <a:t>.</a:t>
            </a:r>
          </a:p>
          <a:p>
            <a:pPr>
              <a:lnSpc>
                <a:spcPct val="150000"/>
              </a:lnSpc>
            </a:pPr>
            <a:r>
              <a:rPr lang="en-US" sz="1900" b="1" dirty="0" smtClean="0"/>
              <a:t>1.Content: </a:t>
            </a:r>
            <a:r>
              <a:rPr lang="en-US" sz="1900" dirty="0" smtClean="0"/>
              <a:t>The </a:t>
            </a:r>
            <a:r>
              <a:rPr lang="en-US" sz="1900" dirty="0"/>
              <a:t>actual content or inner text of the element resides within the content </a:t>
            </a:r>
            <a:r>
              <a:rPr lang="en-US" sz="1900" dirty="0" err="1" smtClean="0"/>
              <a:t>area.The</a:t>
            </a:r>
            <a:r>
              <a:rPr lang="en-US" sz="1900" dirty="0" smtClean="0"/>
              <a:t> </a:t>
            </a:r>
            <a:r>
              <a:rPr lang="en-US" sz="1900" dirty="0"/>
              <a:t>content area is where the width and height of the element are applied.	</a:t>
            </a:r>
            <a:endParaRPr lang="en-US" sz="1900" dirty="0" smtClean="0"/>
          </a:p>
          <a:p>
            <a:pPr>
              <a:lnSpc>
                <a:spcPct val="150000"/>
              </a:lnSpc>
            </a:pPr>
            <a:r>
              <a:rPr lang="en-US" sz="1900" b="1" dirty="0" smtClean="0"/>
              <a:t>2.Padding:  </a:t>
            </a:r>
            <a:r>
              <a:rPr lang="en-US" sz="1900" dirty="0" smtClean="0"/>
              <a:t>Padding </a:t>
            </a:r>
            <a:r>
              <a:rPr lang="en-US" sz="1900" dirty="0"/>
              <a:t>is the space between the content and the </a:t>
            </a:r>
            <a:r>
              <a:rPr lang="en-US" sz="1900" dirty="0" smtClean="0"/>
              <a:t>border. It </a:t>
            </a:r>
            <a:r>
              <a:rPr lang="en-US" sz="1900" dirty="0"/>
              <a:t>adds internal space within the element, contributing to its visual appearance</a:t>
            </a:r>
            <a:r>
              <a:rPr lang="en-US" sz="1900" dirty="0" smtClean="0"/>
              <a:t>.</a:t>
            </a:r>
          </a:p>
          <a:p>
            <a:pPr>
              <a:lnSpc>
                <a:spcPct val="150000"/>
              </a:lnSpc>
            </a:pPr>
            <a:r>
              <a:rPr lang="en-US" sz="1900" b="1" dirty="0" smtClean="0"/>
              <a:t>3.Border:  </a:t>
            </a:r>
            <a:r>
              <a:rPr lang="en-US" sz="1900" dirty="0" smtClean="0"/>
              <a:t>The </a:t>
            </a:r>
            <a:r>
              <a:rPr lang="en-US" sz="1900" dirty="0"/>
              <a:t>border surrounds the padding and content.	</a:t>
            </a:r>
            <a:r>
              <a:rPr lang="en-US" sz="1900" dirty="0" smtClean="0"/>
              <a:t> It </a:t>
            </a:r>
            <a:r>
              <a:rPr lang="en-US" sz="1900" dirty="0"/>
              <a:t>can have properties like color, style, and width, providing a visible boundary for the element.	</a:t>
            </a:r>
            <a:endParaRPr lang="en-US" sz="1900" dirty="0" smtClean="0"/>
          </a:p>
          <a:p>
            <a:pPr>
              <a:lnSpc>
                <a:spcPct val="150000"/>
              </a:lnSpc>
            </a:pPr>
            <a:r>
              <a:rPr lang="en-US" sz="1900" b="1" dirty="0" smtClean="0"/>
              <a:t>4.Margin:</a:t>
            </a:r>
            <a:r>
              <a:rPr lang="en-US" sz="1900" dirty="0" smtClean="0"/>
              <a:t> The </a:t>
            </a:r>
            <a:r>
              <a:rPr lang="en-US" sz="1900" dirty="0"/>
              <a:t>margin is the space outside the border</a:t>
            </a:r>
            <a:r>
              <a:rPr lang="en-US" sz="1900" dirty="0" smtClean="0"/>
              <a:t>.</a:t>
            </a:r>
            <a:r>
              <a:rPr lang="en-US" sz="1900" dirty="0"/>
              <a:t>	It defines the gap between the element and its neighboring elements.</a:t>
            </a:r>
          </a:p>
        </p:txBody>
      </p:sp>
    </p:spTree>
    <p:extLst>
      <p:ext uri="{BB962C8B-B14F-4D97-AF65-F5344CB8AC3E}">
        <p14:creationId xmlns:p14="http://schemas.microsoft.com/office/powerpoint/2010/main" val="989261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78823"/>
            <a:ext cx="8596668" cy="927463"/>
          </a:xfrm>
        </p:spPr>
        <p:txBody>
          <a:bodyPr/>
          <a:lstStyle/>
          <a:p>
            <a:r>
              <a:rPr lang="en-CA" dirty="0" smtClean="0"/>
              <a:t>Properties of </a:t>
            </a:r>
            <a:r>
              <a:rPr lang="en-CA" dirty="0" err="1" smtClean="0"/>
              <a:t>Css</a:t>
            </a:r>
            <a:r>
              <a:rPr lang="en-CA" dirty="0" smtClean="0"/>
              <a:t> fundamentals</a:t>
            </a:r>
            <a:endParaRPr lang="en-US" dirty="0"/>
          </a:p>
        </p:txBody>
      </p:sp>
      <p:sp>
        <p:nvSpPr>
          <p:cNvPr id="4" name="Rectangle 3"/>
          <p:cNvSpPr/>
          <p:nvPr/>
        </p:nvSpPr>
        <p:spPr>
          <a:xfrm>
            <a:off x="677334" y="1399626"/>
            <a:ext cx="8961120" cy="5632311"/>
          </a:xfrm>
          <a:prstGeom prst="rect">
            <a:avLst/>
          </a:prstGeom>
        </p:spPr>
        <p:txBody>
          <a:bodyPr wrap="square">
            <a:spAutoFit/>
          </a:bodyPr>
          <a:lstStyle/>
          <a:p>
            <a:pPr>
              <a:lnSpc>
                <a:spcPct val="150000"/>
              </a:lnSpc>
            </a:pPr>
            <a:r>
              <a:rPr lang="en-US" sz="2000" b="1" dirty="0"/>
              <a:t>color: </a:t>
            </a:r>
            <a:r>
              <a:rPr lang="en-US" sz="2000" dirty="0"/>
              <a:t>Sets the text color of an element</a:t>
            </a:r>
            <a:r>
              <a:rPr lang="en-US" sz="2000" dirty="0" smtClean="0"/>
              <a:t>.</a:t>
            </a:r>
          </a:p>
          <a:p>
            <a:pPr>
              <a:lnSpc>
                <a:spcPct val="150000"/>
              </a:lnSpc>
            </a:pPr>
            <a:r>
              <a:rPr lang="en-US" sz="2000" dirty="0" smtClean="0"/>
              <a:t> </a:t>
            </a:r>
            <a:r>
              <a:rPr lang="en-US" sz="2000" dirty="0" err="1" smtClean="0"/>
              <a:t>e.g</a:t>
            </a:r>
            <a:r>
              <a:rPr lang="en-US" sz="2000" dirty="0" smtClean="0"/>
              <a:t>: {    </a:t>
            </a:r>
            <a:r>
              <a:rPr lang="en-US" sz="2000" dirty="0"/>
              <a:t>color:  </a:t>
            </a:r>
            <a:r>
              <a:rPr lang="en-US" sz="2000" dirty="0" smtClean="0"/>
              <a:t>red;}</a:t>
            </a:r>
          </a:p>
          <a:p>
            <a:pPr>
              <a:lnSpc>
                <a:spcPct val="150000"/>
              </a:lnSpc>
            </a:pPr>
            <a:r>
              <a:rPr lang="en-US" sz="2000" dirty="0" smtClean="0"/>
              <a:t> </a:t>
            </a:r>
            <a:r>
              <a:rPr lang="en-US" sz="2000" b="1" dirty="0" smtClean="0"/>
              <a:t>font-size</a:t>
            </a:r>
            <a:r>
              <a:rPr lang="en-US" sz="2000" b="1" dirty="0"/>
              <a:t>: </a:t>
            </a:r>
            <a:r>
              <a:rPr lang="en-US" sz="2000" dirty="0"/>
              <a:t>Sets the size of the font</a:t>
            </a:r>
            <a:r>
              <a:rPr lang="en-US" sz="2000" dirty="0" smtClean="0"/>
              <a:t>.</a:t>
            </a:r>
          </a:p>
          <a:p>
            <a:pPr>
              <a:lnSpc>
                <a:spcPct val="150000"/>
              </a:lnSpc>
            </a:pPr>
            <a:r>
              <a:rPr lang="en-US" sz="2000" dirty="0" err="1" smtClean="0"/>
              <a:t>e.g</a:t>
            </a:r>
            <a:r>
              <a:rPr lang="en-US" sz="2000" dirty="0" smtClean="0"/>
              <a:t>: {    </a:t>
            </a:r>
            <a:r>
              <a:rPr lang="en-US" sz="2000" dirty="0"/>
              <a:t>font-size: 16px</a:t>
            </a:r>
            <a:r>
              <a:rPr lang="en-US" sz="2000" dirty="0" smtClean="0"/>
              <a:t>;}</a:t>
            </a:r>
          </a:p>
          <a:p>
            <a:pPr>
              <a:lnSpc>
                <a:spcPct val="150000"/>
              </a:lnSpc>
            </a:pPr>
            <a:r>
              <a:rPr lang="en-US" sz="2000" dirty="0" smtClean="0"/>
              <a:t> </a:t>
            </a:r>
            <a:r>
              <a:rPr lang="en-US" sz="2000" b="1" dirty="0" smtClean="0"/>
              <a:t>font-family</a:t>
            </a:r>
            <a:r>
              <a:rPr lang="en-US" sz="2000" b="1" dirty="0"/>
              <a:t>: </a:t>
            </a:r>
            <a:r>
              <a:rPr lang="en-US" sz="2000" dirty="0"/>
              <a:t>Defines the font to be used for the text</a:t>
            </a:r>
            <a:r>
              <a:rPr lang="en-US" sz="2000" dirty="0" smtClean="0"/>
              <a:t>.</a:t>
            </a:r>
          </a:p>
          <a:p>
            <a:pPr>
              <a:lnSpc>
                <a:spcPct val="150000"/>
              </a:lnSpc>
            </a:pPr>
            <a:r>
              <a:rPr lang="en-US" sz="2000" dirty="0" err="1" smtClean="0"/>
              <a:t>e.g</a:t>
            </a:r>
            <a:r>
              <a:rPr lang="en-US" sz="2000" dirty="0" smtClean="0"/>
              <a:t>: {    </a:t>
            </a:r>
            <a:r>
              <a:rPr lang="en-US" sz="2000" dirty="0"/>
              <a:t>font-family: "Arial", sans-serif; /* fallback fonts in case the primary font is not available </a:t>
            </a:r>
            <a:r>
              <a:rPr lang="en-US" sz="2000" dirty="0" smtClean="0"/>
              <a:t>*/}</a:t>
            </a:r>
          </a:p>
          <a:p>
            <a:pPr>
              <a:lnSpc>
                <a:spcPct val="150000"/>
              </a:lnSpc>
            </a:pPr>
            <a:r>
              <a:rPr lang="en-US" sz="2000" b="1" dirty="0"/>
              <a:t>font-weight: </a:t>
            </a:r>
            <a:r>
              <a:rPr lang="en-US" sz="2000" dirty="0"/>
              <a:t>Sets the thickness of characters in a </a:t>
            </a:r>
            <a:r>
              <a:rPr lang="en-US" sz="2000" dirty="0" err="1"/>
              <a:t>text.cssCopy</a:t>
            </a:r>
            <a:r>
              <a:rPr lang="en-US" sz="2000" dirty="0"/>
              <a:t> </a:t>
            </a:r>
            <a:r>
              <a:rPr lang="en-US" sz="2000" dirty="0" err="1"/>
              <a:t>codestrong</a:t>
            </a:r>
            <a:r>
              <a:rPr lang="en-US" sz="2000" dirty="0"/>
              <a:t> {    font-weight: bold;}text-align: Specifies the horizontal alignment of text</a:t>
            </a:r>
            <a:r>
              <a:rPr lang="en-US" sz="2000" dirty="0" smtClean="0"/>
              <a:t>. </a:t>
            </a:r>
          </a:p>
          <a:p>
            <a:pPr>
              <a:lnSpc>
                <a:spcPct val="150000"/>
              </a:lnSpc>
            </a:pPr>
            <a:r>
              <a:rPr lang="en-US" sz="2000" dirty="0" err="1" smtClean="0"/>
              <a:t>e.g</a:t>
            </a:r>
            <a:r>
              <a:rPr lang="en-US" sz="2000" dirty="0" smtClean="0"/>
              <a:t>: {    </a:t>
            </a:r>
            <a:r>
              <a:rPr lang="en-US" sz="2000" dirty="0"/>
              <a:t>text-align: center</a:t>
            </a:r>
            <a:r>
              <a:rPr lang="en-US" sz="2000" dirty="0" smtClean="0"/>
              <a:t>;}</a:t>
            </a:r>
          </a:p>
          <a:p>
            <a:pPr>
              <a:lnSpc>
                <a:spcPct val="150000"/>
              </a:lnSpc>
            </a:pPr>
            <a:endParaRPr lang="en-US" sz="2000" dirty="0" smtClean="0"/>
          </a:p>
          <a:p>
            <a:pPr>
              <a:lnSpc>
                <a:spcPct val="150000"/>
              </a:lnSpc>
            </a:pPr>
            <a:endParaRPr lang="en-US" sz="2000" dirty="0"/>
          </a:p>
        </p:txBody>
      </p:sp>
    </p:spTree>
    <p:extLst>
      <p:ext uri="{BB962C8B-B14F-4D97-AF65-F5344CB8AC3E}">
        <p14:creationId xmlns:p14="http://schemas.microsoft.com/office/powerpoint/2010/main" val="181663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44583" y="281413"/>
            <a:ext cx="8516983" cy="2862322"/>
          </a:xfrm>
          <a:prstGeom prst="rect">
            <a:avLst/>
          </a:prstGeom>
        </p:spPr>
        <p:txBody>
          <a:bodyPr wrap="square">
            <a:spAutoFit/>
          </a:bodyPr>
          <a:lstStyle/>
          <a:p>
            <a:pPr>
              <a:lnSpc>
                <a:spcPct val="150000"/>
              </a:lnSpc>
            </a:pPr>
            <a:r>
              <a:rPr lang="en-US" sz="2000" b="1" dirty="0"/>
              <a:t>text-align: </a:t>
            </a:r>
            <a:r>
              <a:rPr lang="en-US" sz="2000" dirty="0"/>
              <a:t>Specifies the horizontal alignment of text</a:t>
            </a:r>
            <a:r>
              <a:rPr lang="en-US" sz="2000" dirty="0" smtClean="0"/>
              <a:t>.</a:t>
            </a:r>
          </a:p>
          <a:p>
            <a:pPr>
              <a:lnSpc>
                <a:spcPct val="150000"/>
              </a:lnSpc>
            </a:pPr>
            <a:r>
              <a:rPr lang="en-US" sz="2000" dirty="0" err="1" smtClean="0"/>
              <a:t>e.g</a:t>
            </a:r>
            <a:r>
              <a:rPr lang="en-US" sz="2000" dirty="0" smtClean="0"/>
              <a:t>: h1{    </a:t>
            </a:r>
            <a:r>
              <a:rPr lang="en-US" sz="2000" dirty="0"/>
              <a:t>text-align: center</a:t>
            </a:r>
            <a:r>
              <a:rPr lang="en-US" sz="2000" dirty="0" smtClean="0"/>
              <a:t>;}</a:t>
            </a:r>
          </a:p>
          <a:p>
            <a:pPr>
              <a:lnSpc>
                <a:spcPct val="150000"/>
              </a:lnSpc>
            </a:pPr>
            <a:r>
              <a:rPr lang="en-US" sz="2000" b="1" dirty="0" smtClean="0"/>
              <a:t>line-height</a:t>
            </a:r>
            <a:r>
              <a:rPr lang="en-US" sz="2000" dirty="0"/>
              <a:t>: Defines the amount of space above and below lines of </a:t>
            </a:r>
            <a:r>
              <a:rPr lang="en-US" sz="2000" dirty="0" smtClean="0"/>
              <a:t>text.</a:t>
            </a:r>
          </a:p>
          <a:p>
            <a:pPr>
              <a:lnSpc>
                <a:spcPct val="150000"/>
              </a:lnSpc>
            </a:pPr>
            <a:r>
              <a:rPr lang="en-US" sz="2000" dirty="0" err="1" smtClean="0"/>
              <a:t>css</a:t>
            </a:r>
            <a:r>
              <a:rPr lang="en-US" sz="2000" dirty="0" smtClean="0"/>
              <a:t>{    </a:t>
            </a:r>
            <a:r>
              <a:rPr lang="en-US" sz="2000" dirty="0"/>
              <a:t>line-height: 1.5</a:t>
            </a:r>
            <a:r>
              <a:rPr lang="en-US" sz="2000" dirty="0" smtClean="0"/>
              <a:t>;}</a:t>
            </a:r>
          </a:p>
          <a:p>
            <a:pPr>
              <a:lnSpc>
                <a:spcPct val="150000"/>
              </a:lnSpc>
            </a:pPr>
            <a:r>
              <a:rPr lang="en-US" sz="2000" b="1" dirty="0" smtClean="0"/>
              <a:t>background-color</a:t>
            </a:r>
            <a:r>
              <a:rPr lang="en-US" sz="2000" b="1" dirty="0"/>
              <a:t>: </a:t>
            </a:r>
            <a:r>
              <a:rPr lang="en-US" sz="2000" dirty="0"/>
              <a:t>Sets the background color of an element</a:t>
            </a:r>
            <a:r>
              <a:rPr lang="en-US" sz="2000" dirty="0" smtClean="0"/>
              <a:t>.</a:t>
            </a:r>
          </a:p>
          <a:p>
            <a:pPr>
              <a:lnSpc>
                <a:spcPct val="150000"/>
              </a:lnSpc>
            </a:pPr>
            <a:r>
              <a:rPr lang="en-US" sz="2000" dirty="0" err="1" smtClean="0"/>
              <a:t>e.g</a:t>
            </a:r>
            <a:r>
              <a:rPr lang="en-US" sz="2000" dirty="0" smtClean="0"/>
              <a:t>:  {    </a:t>
            </a:r>
            <a:r>
              <a:rPr lang="en-US" sz="2000" dirty="0"/>
              <a:t>background-color: #f0f0f0</a:t>
            </a:r>
            <a:r>
              <a:rPr lang="en-US" sz="2000" dirty="0" smtClean="0"/>
              <a:t>;}</a:t>
            </a:r>
          </a:p>
        </p:txBody>
      </p:sp>
    </p:spTree>
    <p:extLst>
      <p:ext uri="{BB962C8B-B14F-4D97-AF65-F5344CB8AC3E}">
        <p14:creationId xmlns:p14="http://schemas.microsoft.com/office/powerpoint/2010/main" val="3149010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 y="712490"/>
            <a:ext cx="11007634" cy="5170646"/>
          </a:xfrm>
          <a:prstGeom prst="rect">
            <a:avLst/>
          </a:prstGeom>
        </p:spPr>
        <p:txBody>
          <a:bodyPr wrap="square">
            <a:spAutoFit/>
          </a:bodyPr>
          <a:lstStyle/>
          <a:p>
            <a:pPr>
              <a:lnSpc>
                <a:spcPct val="150000"/>
              </a:lnSpc>
            </a:pPr>
            <a:r>
              <a:rPr lang="en-US" sz="2000" b="1" dirty="0"/>
              <a:t>display: </a:t>
            </a:r>
            <a:r>
              <a:rPr lang="en-US" sz="2000" dirty="0"/>
              <a:t>Defines the display behavior of an </a:t>
            </a:r>
            <a:r>
              <a:rPr lang="en-US" sz="2000" dirty="0" smtClean="0"/>
              <a:t>element.</a:t>
            </a:r>
          </a:p>
          <a:p>
            <a:pPr>
              <a:lnSpc>
                <a:spcPct val="150000"/>
              </a:lnSpc>
            </a:pPr>
            <a:r>
              <a:rPr lang="en-US" sz="2000" dirty="0" err="1" smtClean="0"/>
              <a:t>e.g</a:t>
            </a:r>
            <a:r>
              <a:rPr lang="en-US" sz="2000" dirty="0" smtClean="0"/>
              <a:t>: span </a:t>
            </a:r>
            <a:r>
              <a:rPr lang="en-US" sz="2000" dirty="0"/>
              <a:t>{    display: block; /* or inline, inline-block, flex, etc. </a:t>
            </a:r>
            <a:r>
              <a:rPr lang="en-US" sz="2000" dirty="0" smtClean="0"/>
              <a:t>*/}</a:t>
            </a:r>
          </a:p>
          <a:p>
            <a:pPr>
              <a:lnSpc>
                <a:spcPct val="150000"/>
              </a:lnSpc>
            </a:pPr>
            <a:r>
              <a:rPr lang="en-US" sz="2000" b="1" dirty="0" smtClean="0"/>
              <a:t>position</a:t>
            </a:r>
            <a:r>
              <a:rPr lang="en-US" sz="2000" b="1" dirty="0"/>
              <a:t>: </a:t>
            </a:r>
            <a:r>
              <a:rPr lang="en-US" sz="2000" dirty="0"/>
              <a:t>Specifies the positioning method used for an </a:t>
            </a:r>
            <a:r>
              <a:rPr lang="en-US" sz="2000" dirty="0" smtClean="0"/>
              <a:t>element.</a:t>
            </a:r>
          </a:p>
          <a:p>
            <a:pPr>
              <a:lnSpc>
                <a:spcPct val="150000"/>
              </a:lnSpc>
            </a:pPr>
            <a:r>
              <a:rPr lang="en-US" sz="2000" dirty="0" err="1" smtClean="0"/>
              <a:t>e.g</a:t>
            </a:r>
            <a:r>
              <a:rPr lang="en-US" sz="2000" dirty="0" smtClean="0"/>
              <a:t>:  .fixed-position {    </a:t>
            </a:r>
            <a:r>
              <a:rPr lang="en-US" sz="2000" dirty="0"/>
              <a:t>position: fixed; /* or relative, absolute, static, etc. */    top: 0;    left: 0</a:t>
            </a:r>
            <a:r>
              <a:rPr lang="en-US" sz="2000" dirty="0" smtClean="0"/>
              <a:t>;}</a:t>
            </a:r>
          </a:p>
          <a:p>
            <a:pPr>
              <a:lnSpc>
                <a:spcPct val="150000"/>
              </a:lnSpc>
            </a:pPr>
            <a:r>
              <a:rPr lang="en-US" sz="2000" dirty="0"/>
              <a:t>float: Specifies whether an element should float to the left or right</a:t>
            </a:r>
            <a:r>
              <a:rPr lang="en-US" sz="2000" dirty="0" smtClean="0"/>
              <a:t>.</a:t>
            </a:r>
          </a:p>
          <a:p>
            <a:pPr>
              <a:lnSpc>
                <a:spcPct val="150000"/>
              </a:lnSpc>
            </a:pPr>
            <a:r>
              <a:rPr lang="en-US" sz="2000" dirty="0" err="1" smtClean="0"/>
              <a:t>e.g</a:t>
            </a:r>
            <a:r>
              <a:rPr lang="en-US" sz="2000" dirty="0" smtClean="0"/>
              <a:t>: </a:t>
            </a:r>
            <a:r>
              <a:rPr lang="en-US" sz="2000" dirty="0" err="1" smtClean="0"/>
              <a:t>img</a:t>
            </a:r>
            <a:r>
              <a:rPr lang="en-US" sz="2000" dirty="0" smtClean="0"/>
              <a:t> </a:t>
            </a:r>
            <a:r>
              <a:rPr lang="en-US" sz="2000" dirty="0"/>
              <a:t>{    float: left</a:t>
            </a:r>
            <a:r>
              <a:rPr lang="en-US" sz="2000" dirty="0" smtClean="0"/>
              <a:t>;}</a:t>
            </a:r>
          </a:p>
          <a:p>
            <a:pPr>
              <a:lnSpc>
                <a:spcPct val="150000"/>
              </a:lnSpc>
            </a:pPr>
            <a:r>
              <a:rPr lang="en-US" sz="2000" b="1" dirty="0" smtClean="0"/>
              <a:t>clear</a:t>
            </a:r>
            <a:r>
              <a:rPr lang="en-US" sz="2000" b="1" dirty="0"/>
              <a:t>: </a:t>
            </a:r>
            <a:r>
              <a:rPr lang="en-US" sz="2000" dirty="0"/>
              <a:t>Specifies which sides of an element other floating elements are not </a:t>
            </a:r>
            <a:r>
              <a:rPr lang="en-US" sz="2000" dirty="0" smtClean="0"/>
              <a:t>allowed.</a:t>
            </a:r>
          </a:p>
          <a:p>
            <a:pPr>
              <a:lnSpc>
                <a:spcPct val="150000"/>
              </a:lnSpc>
            </a:pPr>
            <a:r>
              <a:rPr lang="en-US" sz="2000" dirty="0" err="1" smtClean="0"/>
              <a:t>e.g:div</a:t>
            </a:r>
            <a:r>
              <a:rPr lang="en-US" sz="2000" dirty="0" smtClean="0"/>
              <a:t> </a:t>
            </a:r>
            <a:r>
              <a:rPr lang="en-US" sz="2000" dirty="0"/>
              <a:t>{    clear: both</a:t>
            </a:r>
            <a:r>
              <a:rPr lang="en-US" sz="2000" dirty="0" smtClean="0"/>
              <a:t>;}</a:t>
            </a:r>
          </a:p>
          <a:p>
            <a:pPr>
              <a:lnSpc>
                <a:spcPct val="150000"/>
              </a:lnSpc>
            </a:pPr>
            <a:r>
              <a:rPr lang="en-US" sz="2000" b="1" dirty="0" smtClean="0"/>
              <a:t>width </a:t>
            </a:r>
            <a:r>
              <a:rPr lang="en-US" sz="2000" b="1" dirty="0"/>
              <a:t>and height: </a:t>
            </a:r>
            <a:r>
              <a:rPr lang="en-US" sz="2000" dirty="0"/>
              <a:t>Sets the width and height of an </a:t>
            </a:r>
            <a:r>
              <a:rPr lang="en-US" sz="2000" dirty="0" smtClean="0"/>
              <a:t>element.</a:t>
            </a:r>
          </a:p>
          <a:p>
            <a:pPr>
              <a:lnSpc>
                <a:spcPct val="150000"/>
              </a:lnSpc>
            </a:pPr>
            <a:r>
              <a:rPr lang="en-US" sz="2000" dirty="0" err="1" smtClean="0"/>
              <a:t>e.g</a:t>
            </a:r>
            <a:r>
              <a:rPr lang="en-US" sz="2000" dirty="0" smtClean="0"/>
              <a:t>: .container </a:t>
            </a:r>
            <a:r>
              <a:rPr lang="en-US" sz="2000" dirty="0"/>
              <a:t>{    width: 100%;    height: 400px;}</a:t>
            </a:r>
            <a:endParaRPr lang="en-US" sz="2000" dirty="0"/>
          </a:p>
        </p:txBody>
      </p:sp>
    </p:spTree>
    <p:extLst>
      <p:ext uri="{BB962C8B-B14F-4D97-AF65-F5344CB8AC3E}">
        <p14:creationId xmlns:p14="http://schemas.microsoft.com/office/powerpoint/2010/main" val="2290142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6686"/>
          </a:xfrm>
        </p:spPr>
        <p:txBody>
          <a:bodyPr/>
          <a:lstStyle/>
          <a:p>
            <a:r>
              <a:rPr lang="en-CA" dirty="0" smtClean="0"/>
              <a:t>CSS Framework</a:t>
            </a:r>
            <a:endParaRPr lang="en-US" dirty="0"/>
          </a:p>
        </p:txBody>
      </p:sp>
      <p:sp>
        <p:nvSpPr>
          <p:cNvPr id="3" name="Rectangle 2"/>
          <p:cNvSpPr/>
          <p:nvPr/>
        </p:nvSpPr>
        <p:spPr>
          <a:xfrm>
            <a:off x="444137" y="1924820"/>
            <a:ext cx="8725989" cy="4154984"/>
          </a:xfrm>
          <a:prstGeom prst="rect">
            <a:avLst/>
          </a:prstGeom>
        </p:spPr>
        <p:txBody>
          <a:bodyPr wrap="square">
            <a:spAutoFit/>
          </a:bodyPr>
          <a:lstStyle/>
          <a:p>
            <a:r>
              <a:rPr lang="en-US" sz="2400" dirty="0"/>
              <a:t>CSS Frameworks are pre-built collections of styles, layouts, and design components that simplify and expedite the web development process</a:t>
            </a:r>
            <a:r>
              <a:rPr lang="en-US" sz="2400" dirty="0" smtClean="0"/>
              <a:t>.</a:t>
            </a:r>
          </a:p>
          <a:p>
            <a:r>
              <a:rPr lang="en-US" sz="2400" b="1" dirty="0" smtClean="0"/>
              <a:t>Purpose</a:t>
            </a:r>
            <a:r>
              <a:rPr lang="en-US" sz="2400" b="1" dirty="0"/>
              <a:t>: </a:t>
            </a:r>
            <a:r>
              <a:rPr lang="en-US" sz="2400" dirty="0"/>
              <a:t>Provide a standardized and efficient way to create visually appealing and responsive web applications</a:t>
            </a:r>
            <a:r>
              <a:rPr lang="en-US" sz="2400" dirty="0" smtClean="0"/>
              <a:t>.</a:t>
            </a:r>
          </a:p>
          <a:p>
            <a:endParaRPr lang="en-US" sz="2400" dirty="0" smtClean="0"/>
          </a:p>
          <a:p>
            <a:r>
              <a:rPr lang="en-US" sz="2400" b="1" dirty="0" smtClean="0"/>
              <a:t>Advantages </a:t>
            </a:r>
            <a:r>
              <a:rPr lang="en-US" sz="2400" b="1" dirty="0"/>
              <a:t>of CSS Frameworks</a:t>
            </a:r>
            <a:r>
              <a:rPr lang="en-US" sz="2400" b="1" dirty="0" smtClean="0"/>
              <a:t>:</a:t>
            </a:r>
          </a:p>
          <a:p>
            <a:r>
              <a:rPr lang="en-US" sz="2400" dirty="0"/>
              <a:t>	•	Time Efficiency: Speeds up development with ready-made components and styling</a:t>
            </a:r>
            <a:r>
              <a:rPr lang="en-US" sz="2400" dirty="0" smtClean="0"/>
              <a:t>.</a:t>
            </a:r>
          </a:p>
          <a:p>
            <a:r>
              <a:rPr lang="en-US" sz="2400" dirty="0"/>
              <a:t>	•	Consistency: Ensures a consistent design language throughout the application.	</a:t>
            </a:r>
          </a:p>
        </p:txBody>
      </p:sp>
    </p:spTree>
    <p:extLst>
      <p:ext uri="{BB962C8B-B14F-4D97-AF65-F5344CB8AC3E}">
        <p14:creationId xmlns:p14="http://schemas.microsoft.com/office/powerpoint/2010/main" val="2326337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66057" y="443525"/>
            <a:ext cx="8290560" cy="5632311"/>
          </a:xfrm>
          <a:prstGeom prst="rect">
            <a:avLst/>
          </a:prstGeom>
        </p:spPr>
        <p:txBody>
          <a:bodyPr wrap="square">
            <a:spAutoFit/>
          </a:bodyPr>
          <a:lstStyle/>
          <a:p>
            <a:pPr>
              <a:lnSpc>
                <a:spcPct val="150000"/>
              </a:lnSpc>
            </a:pPr>
            <a:r>
              <a:rPr lang="en-US" sz="2000" dirty="0"/>
              <a:t>•	</a:t>
            </a:r>
            <a:r>
              <a:rPr lang="en-US" sz="2000" b="1" dirty="0"/>
              <a:t>Responsive Design: </a:t>
            </a:r>
            <a:r>
              <a:rPr lang="en-US" sz="2000" dirty="0"/>
              <a:t>Many frameworks come with built-in responsiveness, saving effort in creating adaptive layouts</a:t>
            </a:r>
            <a:r>
              <a:rPr lang="en-US" sz="2000" dirty="0" smtClean="0"/>
              <a:t>.</a:t>
            </a:r>
          </a:p>
          <a:p>
            <a:pPr>
              <a:lnSpc>
                <a:spcPct val="150000"/>
              </a:lnSpc>
            </a:pPr>
            <a:r>
              <a:rPr lang="en-US" sz="2000" b="1" dirty="0" smtClean="0"/>
              <a:t>•</a:t>
            </a:r>
            <a:r>
              <a:rPr lang="en-US" sz="2000" b="1" dirty="0"/>
              <a:t>	Cross-Browser Compatibility: </a:t>
            </a:r>
            <a:r>
              <a:rPr lang="en-US" sz="2000" dirty="0"/>
              <a:t>Frameworks are extensively tested to work well across various browsers</a:t>
            </a:r>
            <a:r>
              <a:rPr lang="en-US" sz="2000" dirty="0" smtClean="0"/>
              <a:t>.</a:t>
            </a:r>
          </a:p>
          <a:p>
            <a:pPr marL="457200" indent="-457200">
              <a:lnSpc>
                <a:spcPct val="150000"/>
              </a:lnSpc>
              <a:buAutoNum type="arabicPeriod" startAt="3"/>
            </a:pPr>
            <a:r>
              <a:rPr lang="en-US" sz="2000" b="1" dirty="0" smtClean="0"/>
              <a:t>Popular CSS Frameworks:</a:t>
            </a:r>
          </a:p>
          <a:p>
            <a:pPr>
              <a:lnSpc>
                <a:spcPct val="150000"/>
              </a:lnSpc>
            </a:pPr>
            <a:r>
              <a:rPr lang="en-US" sz="2000" dirty="0"/>
              <a:t>	•</a:t>
            </a:r>
            <a:r>
              <a:rPr lang="en-US" sz="2000" b="1" dirty="0"/>
              <a:t>	Bootstrap:</a:t>
            </a:r>
            <a:r>
              <a:rPr lang="en-US" sz="2000" dirty="0"/>
              <a:t>	</a:t>
            </a:r>
            <a:r>
              <a:rPr lang="en-US" sz="2000" dirty="0" smtClean="0"/>
              <a:t>Developed </a:t>
            </a:r>
            <a:r>
              <a:rPr lang="en-US" sz="2000" dirty="0"/>
              <a:t>by Twitter, Bootstrap is renowned for its responsive grid system, UI components, and extensive documentation</a:t>
            </a:r>
            <a:r>
              <a:rPr lang="en-US" sz="2000" dirty="0" smtClean="0"/>
              <a:t>.</a:t>
            </a:r>
          </a:p>
          <a:p>
            <a:pPr>
              <a:lnSpc>
                <a:spcPct val="150000"/>
              </a:lnSpc>
            </a:pPr>
            <a:r>
              <a:rPr lang="en-US" sz="2000" dirty="0"/>
              <a:t>	•</a:t>
            </a:r>
            <a:r>
              <a:rPr lang="en-US" sz="2000" b="1" dirty="0"/>
              <a:t>	Foundation</a:t>
            </a:r>
            <a:r>
              <a:rPr lang="en-US" sz="2000" b="1" dirty="0" smtClean="0"/>
              <a:t>:</a:t>
            </a:r>
            <a:r>
              <a:rPr lang="en-US" sz="2000" dirty="0"/>
              <a:t>	Known for flexibility, Foundation provides a responsive grid and a range of customizable UI elements.	</a:t>
            </a:r>
            <a:endParaRPr lang="en-US" sz="2000" dirty="0" smtClean="0"/>
          </a:p>
          <a:p>
            <a:pPr>
              <a:lnSpc>
                <a:spcPct val="150000"/>
              </a:lnSpc>
            </a:pPr>
            <a:r>
              <a:rPr lang="en-US" sz="2000" dirty="0"/>
              <a:t> </a:t>
            </a:r>
            <a:r>
              <a:rPr lang="en-US" sz="2000" dirty="0" smtClean="0"/>
              <a:t>     •</a:t>
            </a:r>
            <a:r>
              <a:rPr lang="en-US" sz="2000" b="1" dirty="0" smtClean="0"/>
              <a:t>Tailwind </a:t>
            </a:r>
            <a:r>
              <a:rPr lang="en-US" sz="2000" b="1" dirty="0"/>
              <a:t>CSS:	</a:t>
            </a:r>
            <a:r>
              <a:rPr lang="en-US" sz="2000" dirty="0" smtClean="0"/>
              <a:t>Takes </a:t>
            </a:r>
            <a:r>
              <a:rPr lang="en-US" sz="2000" dirty="0"/>
              <a:t>a utility-first approach, offering low-level utility classes for building designs with flexibility.</a:t>
            </a:r>
            <a:endParaRPr lang="en-US" sz="2000" dirty="0"/>
          </a:p>
        </p:txBody>
      </p:sp>
    </p:spTree>
    <p:extLst>
      <p:ext uri="{BB962C8B-B14F-4D97-AF65-F5344CB8AC3E}">
        <p14:creationId xmlns:p14="http://schemas.microsoft.com/office/powerpoint/2010/main" val="2088437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0560"/>
          </a:xfrm>
        </p:spPr>
        <p:txBody>
          <a:bodyPr/>
          <a:lstStyle/>
          <a:p>
            <a:r>
              <a:rPr lang="en-CA" dirty="0" smtClean="0"/>
              <a:t>Importance of using CSS </a:t>
            </a:r>
            <a:endParaRPr lang="en-US" dirty="0"/>
          </a:p>
        </p:txBody>
      </p:sp>
      <p:sp>
        <p:nvSpPr>
          <p:cNvPr id="4" name="Rectangle 3"/>
          <p:cNvSpPr/>
          <p:nvPr/>
        </p:nvSpPr>
        <p:spPr>
          <a:xfrm>
            <a:off x="300446" y="1650002"/>
            <a:ext cx="9666514" cy="4247317"/>
          </a:xfrm>
          <a:prstGeom prst="rect">
            <a:avLst/>
          </a:prstGeom>
        </p:spPr>
        <p:txBody>
          <a:bodyPr wrap="square">
            <a:spAutoFit/>
          </a:bodyPr>
          <a:lstStyle/>
          <a:p>
            <a:pPr marL="342900" indent="-342900">
              <a:buAutoNum type="arabicPeriod"/>
            </a:pPr>
            <a:r>
              <a:rPr lang="en-US" b="1" dirty="0" smtClean="0"/>
              <a:t>*</a:t>
            </a:r>
            <a:r>
              <a:rPr lang="en-US" b="1" dirty="0"/>
              <a:t>Unified Styling</a:t>
            </a:r>
            <a:r>
              <a:rPr lang="en-US" b="1" dirty="0" smtClean="0"/>
              <a:t>:</a:t>
            </a:r>
          </a:p>
          <a:p>
            <a:r>
              <a:rPr lang="en-US" dirty="0" smtClean="0"/>
              <a:t>  </a:t>
            </a:r>
            <a:r>
              <a:rPr lang="en-US" dirty="0"/>
              <a:t>- *Consistency:* CSS fundamentals provide a standardized way to style web elements, ensuring a consistent look and feel across a website. </a:t>
            </a:r>
            <a:endParaRPr lang="en-US" dirty="0" smtClean="0"/>
          </a:p>
          <a:p>
            <a:r>
              <a:rPr lang="en-US" dirty="0" smtClean="0"/>
              <a:t>  </a:t>
            </a:r>
            <a:r>
              <a:rPr lang="en-US" dirty="0"/>
              <a:t>- </a:t>
            </a:r>
            <a:r>
              <a:rPr lang="en-US" b="1" dirty="0" smtClean="0"/>
              <a:t>Reusability: </a:t>
            </a:r>
            <a:r>
              <a:rPr lang="en-US" dirty="0"/>
              <a:t>Establishing a foundational set of styles allows for easy reuse across multiple pages and components</a:t>
            </a:r>
            <a:r>
              <a:rPr lang="en-US" dirty="0" smtClean="0"/>
              <a:t>.</a:t>
            </a:r>
          </a:p>
          <a:p>
            <a:r>
              <a:rPr lang="en-US" b="1" dirty="0" smtClean="0"/>
              <a:t>2</a:t>
            </a:r>
            <a:r>
              <a:rPr lang="en-US" b="1" dirty="0"/>
              <a:t>. </a:t>
            </a:r>
            <a:r>
              <a:rPr lang="en-US" b="1" dirty="0" smtClean="0"/>
              <a:t>Responsive </a:t>
            </a:r>
            <a:r>
              <a:rPr lang="en-US" b="1" dirty="0"/>
              <a:t>Design</a:t>
            </a:r>
            <a:r>
              <a:rPr lang="en-US" b="1" dirty="0" smtClean="0"/>
              <a:t>:</a:t>
            </a:r>
          </a:p>
          <a:p>
            <a:r>
              <a:rPr lang="en-US" dirty="0" smtClean="0"/>
              <a:t>  </a:t>
            </a:r>
            <a:r>
              <a:rPr lang="en-US" dirty="0"/>
              <a:t>- </a:t>
            </a:r>
            <a:r>
              <a:rPr lang="en-US" dirty="0" smtClean="0"/>
              <a:t>Adaptability:  CSS </a:t>
            </a:r>
            <a:r>
              <a:rPr lang="en-US" dirty="0"/>
              <a:t>fundamentals enable the creation of responsive designs that adjust to various screen sizes and devices.  </a:t>
            </a:r>
            <a:endParaRPr lang="en-US" dirty="0" smtClean="0"/>
          </a:p>
          <a:p>
            <a:r>
              <a:rPr lang="en-US" dirty="0" smtClean="0"/>
              <a:t> </a:t>
            </a:r>
            <a:r>
              <a:rPr lang="en-US" dirty="0"/>
              <a:t>- </a:t>
            </a:r>
            <a:r>
              <a:rPr lang="en-US" dirty="0" smtClean="0"/>
              <a:t>Media </a:t>
            </a:r>
            <a:r>
              <a:rPr lang="en-US" dirty="0"/>
              <a:t>Queries</a:t>
            </a:r>
            <a:r>
              <a:rPr lang="en-US" dirty="0" smtClean="0"/>
              <a:t>:  Using </a:t>
            </a:r>
            <a:r>
              <a:rPr lang="en-US" dirty="0"/>
              <a:t>media queries, CSS can tailor styles based on factors like screen width, height, or device orientation</a:t>
            </a:r>
            <a:r>
              <a:rPr lang="en-US" dirty="0" smtClean="0"/>
              <a:t>.</a:t>
            </a:r>
          </a:p>
          <a:p>
            <a:r>
              <a:rPr lang="en-US" b="1" dirty="0" smtClean="0"/>
              <a:t>3</a:t>
            </a:r>
            <a:r>
              <a:rPr lang="en-US" b="1" dirty="0"/>
              <a:t>. </a:t>
            </a:r>
            <a:r>
              <a:rPr lang="en-US" b="1" dirty="0" smtClean="0"/>
              <a:t>Layout </a:t>
            </a:r>
            <a:r>
              <a:rPr lang="en-US" b="1" dirty="0"/>
              <a:t>Control</a:t>
            </a:r>
            <a:r>
              <a:rPr lang="en-US" b="1" dirty="0" smtClean="0"/>
              <a:t>:  </a:t>
            </a:r>
          </a:p>
          <a:p>
            <a:pPr marL="285750" indent="-285750">
              <a:buFontTx/>
              <a:buChar char="-"/>
            </a:pPr>
            <a:r>
              <a:rPr lang="en-US" dirty="0" smtClean="0"/>
              <a:t>Flexibility: CSS </a:t>
            </a:r>
            <a:r>
              <a:rPr lang="en-US" dirty="0"/>
              <a:t>fundamentals, including box model, Flexbox, and Grid, provide powerful tools for structuring layouts and aligning elements.   </a:t>
            </a:r>
            <a:r>
              <a:rPr lang="en-US" dirty="0" smtClean="0"/>
              <a:t> </a:t>
            </a:r>
          </a:p>
          <a:p>
            <a:pPr marL="285750" indent="-285750">
              <a:buFontTx/>
              <a:buChar char="-"/>
            </a:pPr>
            <a:r>
              <a:rPr lang="en-US" dirty="0" smtClean="0"/>
              <a:t>Grid </a:t>
            </a:r>
            <a:r>
              <a:rPr lang="en-US" dirty="0"/>
              <a:t>System</a:t>
            </a:r>
            <a:r>
              <a:rPr lang="en-US" dirty="0" smtClean="0"/>
              <a:t>: </a:t>
            </a:r>
            <a:r>
              <a:rPr lang="en-US" dirty="0"/>
              <a:t>Establishing a grid system aids in organizing content in a visually appealing manner</a:t>
            </a:r>
            <a:r>
              <a:rPr lang="en-US" dirty="0" smtClean="0"/>
              <a:t>.</a:t>
            </a:r>
          </a:p>
        </p:txBody>
      </p:sp>
    </p:spTree>
    <p:extLst>
      <p:ext uri="{BB962C8B-B14F-4D97-AF65-F5344CB8AC3E}">
        <p14:creationId xmlns:p14="http://schemas.microsoft.com/office/powerpoint/2010/main" val="1023586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3326" y="814477"/>
            <a:ext cx="9144000" cy="5324535"/>
          </a:xfrm>
          <a:prstGeom prst="rect">
            <a:avLst/>
          </a:prstGeom>
        </p:spPr>
        <p:txBody>
          <a:bodyPr wrap="square">
            <a:spAutoFit/>
          </a:bodyPr>
          <a:lstStyle/>
          <a:p>
            <a:r>
              <a:rPr lang="en-US" sz="2000" dirty="0" smtClean="0"/>
              <a:t> 4</a:t>
            </a:r>
            <a:r>
              <a:rPr lang="en-US" sz="2000" b="1" dirty="0"/>
              <a:t>.  Browser Compatibility: </a:t>
            </a:r>
            <a:endParaRPr lang="en-US" sz="2000" b="1" dirty="0" smtClean="0"/>
          </a:p>
          <a:p>
            <a:pPr marL="285750" indent="-285750">
              <a:buFontTx/>
              <a:buChar char="-"/>
            </a:pPr>
            <a:r>
              <a:rPr lang="en-US" sz="2000" b="1" dirty="0" smtClean="0"/>
              <a:t> </a:t>
            </a:r>
            <a:r>
              <a:rPr lang="en-US" sz="2000" dirty="0"/>
              <a:t>- </a:t>
            </a:r>
            <a:r>
              <a:rPr lang="en-US" sz="2000" dirty="0" smtClean="0"/>
              <a:t>Cross-Browser </a:t>
            </a:r>
            <a:r>
              <a:rPr lang="en-US" sz="2000" dirty="0"/>
              <a:t>Support</a:t>
            </a:r>
            <a:r>
              <a:rPr lang="en-US" sz="2000" dirty="0" smtClean="0"/>
              <a:t>: </a:t>
            </a:r>
            <a:r>
              <a:rPr lang="en-US" sz="2000" dirty="0"/>
              <a:t>Mastering CSS fundamentals ensures styles are compatible across different browsers, mitigating rendering inconsistencies.   - </a:t>
            </a:r>
            <a:r>
              <a:rPr lang="en-US" sz="2000" dirty="0" smtClean="0"/>
              <a:t>Vendor </a:t>
            </a:r>
            <a:r>
              <a:rPr lang="en-US" sz="2000" dirty="0"/>
              <a:t>Prefixes</a:t>
            </a:r>
            <a:r>
              <a:rPr lang="en-US" sz="2000" dirty="0" smtClean="0"/>
              <a:t>: </a:t>
            </a:r>
            <a:r>
              <a:rPr lang="en-US" sz="2000" dirty="0"/>
              <a:t>Understanding vendor prefixes helps address browser-specific CSS properties</a:t>
            </a:r>
            <a:r>
              <a:rPr lang="en-US" sz="2000" dirty="0" smtClean="0"/>
              <a:t>.</a:t>
            </a:r>
          </a:p>
          <a:p>
            <a:r>
              <a:rPr lang="en-US" sz="2000" dirty="0" smtClean="0"/>
              <a:t>5. </a:t>
            </a:r>
            <a:r>
              <a:rPr lang="en-US" sz="2000" b="1" dirty="0" smtClean="0"/>
              <a:t>Performance </a:t>
            </a:r>
            <a:r>
              <a:rPr lang="en-US" sz="2000" b="1" dirty="0"/>
              <a:t>Optimization</a:t>
            </a:r>
            <a:r>
              <a:rPr lang="en-US" sz="2000" b="1" dirty="0" smtClean="0"/>
              <a:t>:</a:t>
            </a:r>
          </a:p>
          <a:p>
            <a:endParaRPr lang="en-US" sz="2000" b="1" dirty="0" smtClean="0"/>
          </a:p>
          <a:p>
            <a:pPr marL="285750" indent="-285750">
              <a:buFontTx/>
              <a:buChar char="-"/>
            </a:pPr>
            <a:r>
              <a:rPr lang="en-US" sz="2000" dirty="0" smtClean="0"/>
              <a:t>  </a:t>
            </a:r>
            <a:r>
              <a:rPr lang="en-US" sz="2000" dirty="0"/>
              <a:t>- </a:t>
            </a:r>
            <a:r>
              <a:rPr lang="en-US" sz="2000" dirty="0" smtClean="0"/>
              <a:t>Efficient </a:t>
            </a:r>
            <a:r>
              <a:rPr lang="en-US" sz="2000" dirty="0"/>
              <a:t>Code</a:t>
            </a:r>
            <a:r>
              <a:rPr lang="en-US" sz="2000" dirty="0" smtClean="0"/>
              <a:t>: </a:t>
            </a:r>
            <a:r>
              <a:rPr lang="en-US" sz="2000" dirty="0"/>
              <a:t>Using CSS fundamentals encourages writing efficient styles, minimizing redundancy and optimizing </a:t>
            </a:r>
            <a:r>
              <a:rPr lang="en-US" sz="2000" dirty="0" smtClean="0"/>
              <a:t>performance.</a:t>
            </a:r>
          </a:p>
          <a:p>
            <a:r>
              <a:rPr lang="en-US" sz="2000" dirty="0" smtClean="0"/>
              <a:t> -  Reduced Load Times:* Optimized styles contribute to faster page load times, improving the overall user experience.</a:t>
            </a:r>
          </a:p>
          <a:p>
            <a:r>
              <a:rPr lang="en-US" sz="2000" b="1" dirty="0" smtClean="0"/>
              <a:t>6. Enhanced User Experience:</a:t>
            </a:r>
          </a:p>
          <a:p>
            <a:endParaRPr lang="en-US" sz="2000" b="1" dirty="0" smtClean="0"/>
          </a:p>
          <a:p>
            <a:r>
              <a:rPr lang="en-US" sz="2000" b="1" dirty="0" smtClean="0"/>
              <a:t>   </a:t>
            </a:r>
            <a:r>
              <a:rPr lang="en-US" sz="2000" dirty="0" smtClean="0"/>
              <a:t>- Visual Appeal: Applying CSS fundamentals allows designers and developers to create visually appealing interfaces.   </a:t>
            </a:r>
          </a:p>
          <a:p>
            <a:r>
              <a:rPr lang="en-US" sz="2000" dirty="0"/>
              <a:t> </a:t>
            </a:r>
            <a:r>
              <a:rPr lang="en-US" sz="2000" dirty="0" smtClean="0"/>
              <a:t> - Animations and Transitions: Leveraging CSS animations and transitions enhances user engagement and interaction.</a:t>
            </a:r>
          </a:p>
        </p:txBody>
      </p:sp>
    </p:spTree>
    <p:extLst>
      <p:ext uri="{BB962C8B-B14F-4D97-AF65-F5344CB8AC3E}">
        <p14:creationId xmlns:p14="http://schemas.microsoft.com/office/powerpoint/2010/main" val="2599247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577" y="913788"/>
            <a:ext cx="8543109" cy="1323439"/>
          </a:xfrm>
          <a:prstGeom prst="rect">
            <a:avLst/>
          </a:prstGeom>
        </p:spPr>
        <p:txBody>
          <a:bodyPr wrap="square">
            <a:spAutoFit/>
          </a:bodyPr>
          <a:lstStyle/>
          <a:p>
            <a:r>
              <a:rPr lang="en-US" sz="2000" dirty="0"/>
              <a:t>8. *Accessibility:*   - *Readable Typography:* CSS fundamentals play a role in defining readable typography, contributing to a more accessible design.   - *Color Contrast:* Proper use of styles ensures appropriate color contrast, benefiting users with visual impairments.</a:t>
            </a:r>
            <a:endParaRPr lang="en-US" sz="2000" dirty="0"/>
          </a:p>
        </p:txBody>
      </p:sp>
    </p:spTree>
    <p:extLst>
      <p:ext uri="{BB962C8B-B14F-4D97-AF65-F5344CB8AC3E}">
        <p14:creationId xmlns:p14="http://schemas.microsoft.com/office/powerpoint/2010/main" val="3669139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CA" dirty="0" smtClean="0"/>
              <a:t>CONCLUSION</a:t>
            </a:r>
            <a:endParaRPr lang="en-US" dirty="0"/>
          </a:p>
        </p:txBody>
      </p:sp>
      <p:sp>
        <p:nvSpPr>
          <p:cNvPr id="4" name="Rectangle 3"/>
          <p:cNvSpPr/>
          <p:nvPr/>
        </p:nvSpPr>
        <p:spPr>
          <a:xfrm>
            <a:off x="409302" y="1446687"/>
            <a:ext cx="7794171" cy="2677656"/>
          </a:xfrm>
          <a:prstGeom prst="rect">
            <a:avLst/>
          </a:prstGeom>
        </p:spPr>
        <p:txBody>
          <a:bodyPr wrap="square">
            <a:spAutoFit/>
          </a:bodyPr>
          <a:lstStyle/>
          <a:p>
            <a:r>
              <a:rPr lang="en-US" sz="2400" dirty="0"/>
              <a:t>Mastering CSS fundamentals is not just a skill; it’s a foundation that empowers developers to create captivating, responsive, and accessible web experiences. As we navigate the ever-evolving landscape of web development, embracing the core principles of CSS ensures our ability to innovate and deliver compelling digital solutions.</a:t>
            </a:r>
          </a:p>
        </p:txBody>
      </p:sp>
    </p:spTree>
    <p:extLst>
      <p:ext uri="{BB962C8B-B14F-4D97-AF65-F5344CB8AC3E}">
        <p14:creationId xmlns:p14="http://schemas.microsoft.com/office/powerpoint/2010/main" val="781755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GROUP 2 MEMBERS:</a:t>
            </a:r>
            <a:endParaRPr lang="en-US" dirty="0"/>
          </a:p>
        </p:txBody>
      </p:sp>
      <p:sp>
        <p:nvSpPr>
          <p:cNvPr id="3" name="Content Placeholder 2"/>
          <p:cNvSpPr>
            <a:spLocks noGrp="1"/>
          </p:cNvSpPr>
          <p:nvPr>
            <p:ph idx="1"/>
          </p:nvPr>
        </p:nvSpPr>
        <p:spPr/>
        <p:txBody>
          <a:bodyPr/>
          <a:lstStyle/>
          <a:p>
            <a:r>
              <a:rPr lang="en-CA" dirty="0" smtClean="0"/>
              <a:t>BUNTU Levy </a:t>
            </a:r>
            <a:r>
              <a:rPr lang="en-CA" dirty="0" err="1" smtClean="0"/>
              <a:t>caleb</a:t>
            </a:r>
            <a:r>
              <a:rPr lang="en-CA" dirty="0" smtClean="0"/>
              <a:t>                   25250</a:t>
            </a:r>
          </a:p>
          <a:p>
            <a:r>
              <a:rPr lang="en-CA" dirty="0" smtClean="0"/>
              <a:t>ISHIMWE MWIZA  Grace            25192</a:t>
            </a:r>
          </a:p>
          <a:p>
            <a:r>
              <a:rPr lang="en-CA" dirty="0" smtClean="0"/>
              <a:t>KAYITESI  </a:t>
            </a:r>
            <a:r>
              <a:rPr lang="en-CA" dirty="0" err="1" smtClean="0"/>
              <a:t>Noska</a:t>
            </a:r>
            <a:r>
              <a:rPr lang="en-CA" dirty="0" smtClean="0"/>
              <a:t>                       24366</a:t>
            </a:r>
          </a:p>
          <a:p>
            <a:r>
              <a:rPr lang="en-CA" dirty="0" smtClean="0"/>
              <a:t>IMPA   Michelle                        24621</a:t>
            </a:r>
          </a:p>
          <a:p>
            <a:r>
              <a:rPr lang="en-CA" dirty="0" smtClean="0"/>
              <a:t>ISHIMWE  </a:t>
            </a:r>
            <a:r>
              <a:rPr lang="en-CA" dirty="0" err="1" smtClean="0"/>
              <a:t>Elie</a:t>
            </a:r>
            <a:r>
              <a:rPr lang="en-CA" dirty="0" smtClean="0"/>
              <a:t>                          24783</a:t>
            </a:r>
          </a:p>
          <a:p>
            <a:r>
              <a:rPr lang="en-CA" smtClean="0"/>
              <a:t>NTARE RUGAMBA  Arnaud         24750</a:t>
            </a:r>
          </a:p>
          <a:p>
            <a:endParaRPr lang="en-CA" dirty="0" smtClean="0"/>
          </a:p>
          <a:p>
            <a:endParaRPr lang="en-CA" dirty="0" smtClean="0"/>
          </a:p>
          <a:p>
            <a:endParaRPr lang="en-US" dirty="0"/>
          </a:p>
        </p:txBody>
      </p:sp>
    </p:spTree>
    <p:extLst>
      <p:ext uri="{BB962C8B-B14F-4D97-AF65-F5344CB8AC3E}">
        <p14:creationId xmlns:p14="http://schemas.microsoft.com/office/powerpoint/2010/main" val="37677189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188</TotalTime>
  <Words>989</Words>
  <Application>Microsoft Office PowerPoint</Application>
  <PresentationFormat>Widescreen</PresentationFormat>
  <Paragraphs>118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Trebuchet MS</vt:lpstr>
      <vt:lpstr>Wingdings 3</vt:lpstr>
      <vt:lpstr>Facet</vt:lpstr>
      <vt:lpstr> CSS FUNDAMENTALS</vt:lpstr>
      <vt:lpstr>INTRODUCTION</vt:lpstr>
      <vt:lpstr>Role of CSS</vt:lpstr>
      <vt:lpstr>Role….</vt:lpstr>
      <vt:lpstr>CSS Syntax</vt:lpstr>
      <vt:lpstr>Selector</vt:lpstr>
      <vt:lpstr>Css Box model</vt:lpstr>
      <vt:lpstr>Properties of Css fundamentals</vt:lpstr>
      <vt:lpstr>PowerPoint Presentation</vt:lpstr>
      <vt:lpstr>PowerPoint Presentation</vt:lpstr>
      <vt:lpstr>CSS Framework</vt:lpstr>
      <vt:lpstr>PowerPoint Presentation</vt:lpstr>
      <vt:lpstr>Importance of using CSS </vt:lpstr>
      <vt:lpstr>PowerPoint Presentation</vt:lpstr>
      <vt:lpstr>PowerPoint Presentation</vt:lpstr>
      <vt:lpstr>CONCLUSION</vt:lpstr>
      <vt:lpstr>GROUP 2 MEMBERS: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CSS FUNDAMENTALS</dc:title>
  <dc:creator>hp</dc:creator>
  <cp:lastModifiedBy>hp</cp:lastModifiedBy>
  <cp:revision>18</cp:revision>
  <dcterms:created xsi:type="dcterms:W3CDTF">2023-11-22T09:47:51Z</dcterms:created>
  <dcterms:modified xsi:type="dcterms:W3CDTF">2023-11-22T12:56:18Z</dcterms:modified>
</cp:coreProperties>
</file>